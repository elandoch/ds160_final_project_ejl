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/>
    <p:restoredTop sz="94694"/>
  </p:normalViewPr>
  <p:slideViewPr>
    <p:cSldViewPr snapToGrid="0" snapToObjects="1">
      <p:cViewPr>
        <p:scale>
          <a:sx n="51" d="100"/>
          <a:sy n="51" d="100"/>
        </p:scale>
        <p:origin x="1304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4CE008-B736-42FA-B448-4B84E2B76125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332BA15-629B-48E8-B3BA-FEEA84ABF3C9}">
      <dgm:prSet custT="1"/>
      <dgm:spPr/>
      <dgm:t>
        <a:bodyPr/>
        <a:lstStyle/>
        <a:p>
          <a:r>
            <a:rPr lang="en-US" sz="2500" dirty="0"/>
            <a:t>Health-related data does not tend to be linear</a:t>
          </a:r>
        </a:p>
      </dgm:t>
    </dgm:pt>
    <dgm:pt modelId="{782F20BB-6101-4F4B-A270-7E73C88749E0}" type="parTrans" cxnId="{455416A5-DA79-49C4-94B6-768A6CEC0F16}">
      <dgm:prSet/>
      <dgm:spPr/>
      <dgm:t>
        <a:bodyPr/>
        <a:lstStyle/>
        <a:p>
          <a:endParaRPr lang="en-US"/>
        </a:p>
      </dgm:t>
    </dgm:pt>
    <dgm:pt modelId="{39767F22-2E90-40C0-A2FC-D62BBC63608E}" type="sibTrans" cxnId="{455416A5-DA79-49C4-94B6-768A6CEC0F16}">
      <dgm:prSet/>
      <dgm:spPr/>
      <dgm:t>
        <a:bodyPr/>
        <a:lstStyle/>
        <a:p>
          <a:endParaRPr lang="en-US"/>
        </a:p>
      </dgm:t>
    </dgm:pt>
    <dgm:pt modelId="{E3A17986-0F3C-42D9-9277-552A2D376222}">
      <dgm:prSet custT="1"/>
      <dgm:spPr/>
      <dgm:t>
        <a:bodyPr/>
        <a:lstStyle/>
        <a:p>
          <a:r>
            <a:rPr lang="en-US" sz="2500" dirty="0"/>
            <a:t>First, look at data of people who have already had strokes and what their combination of symptoms were</a:t>
          </a:r>
        </a:p>
      </dgm:t>
    </dgm:pt>
    <dgm:pt modelId="{C6293A14-71CA-4B94-97D6-8132B9850BE6}" type="parTrans" cxnId="{73812D43-D28B-4304-8BB2-220A3E87458E}">
      <dgm:prSet/>
      <dgm:spPr/>
      <dgm:t>
        <a:bodyPr/>
        <a:lstStyle/>
        <a:p>
          <a:endParaRPr lang="en-US"/>
        </a:p>
      </dgm:t>
    </dgm:pt>
    <dgm:pt modelId="{1116D556-0E54-458C-9B80-E2E0A8246D15}" type="sibTrans" cxnId="{73812D43-D28B-4304-8BB2-220A3E87458E}">
      <dgm:prSet/>
      <dgm:spPr/>
      <dgm:t>
        <a:bodyPr/>
        <a:lstStyle/>
        <a:p>
          <a:endParaRPr lang="en-US"/>
        </a:p>
      </dgm:t>
    </dgm:pt>
    <dgm:pt modelId="{3BC940D5-9291-4F8E-A27D-7805823B6C57}">
      <dgm:prSet custT="1"/>
      <dgm:spPr/>
      <dgm:t>
        <a:bodyPr/>
        <a:lstStyle/>
        <a:p>
          <a:r>
            <a:rPr lang="en-US" sz="2500" dirty="0"/>
            <a:t>Also look at whether or not a person has had a stroke in the past</a:t>
          </a:r>
        </a:p>
      </dgm:t>
    </dgm:pt>
    <dgm:pt modelId="{650E0FA4-C4E5-411D-BAC1-B19519F40818}" type="parTrans" cxnId="{A9A81E21-5C90-4EF2-B947-A82F4F368360}">
      <dgm:prSet/>
      <dgm:spPr/>
      <dgm:t>
        <a:bodyPr/>
        <a:lstStyle/>
        <a:p>
          <a:endParaRPr lang="en-US"/>
        </a:p>
      </dgm:t>
    </dgm:pt>
    <dgm:pt modelId="{0633AB64-9531-4BF5-AB30-B349EBD5FD66}" type="sibTrans" cxnId="{A9A81E21-5C90-4EF2-B947-A82F4F368360}">
      <dgm:prSet/>
      <dgm:spPr/>
      <dgm:t>
        <a:bodyPr/>
        <a:lstStyle/>
        <a:p>
          <a:endParaRPr lang="en-US"/>
        </a:p>
      </dgm:t>
    </dgm:pt>
    <dgm:pt modelId="{ECB2F0E2-9926-4233-9AB2-37A00ABDEACE}" type="pres">
      <dgm:prSet presAssocID="{9B4CE008-B736-42FA-B448-4B84E2B76125}" presName="linear" presStyleCnt="0">
        <dgm:presLayoutVars>
          <dgm:animLvl val="lvl"/>
          <dgm:resizeHandles val="exact"/>
        </dgm:presLayoutVars>
      </dgm:prSet>
      <dgm:spPr/>
    </dgm:pt>
    <dgm:pt modelId="{599C1540-BE26-487A-8C79-186B1BB65AD8}" type="pres">
      <dgm:prSet presAssocID="{A332BA15-629B-48E8-B3BA-FEEA84ABF3C9}" presName="parentText" presStyleLbl="node1" presStyleIdx="0" presStyleCnt="3" custLinFactNeighborX="-57971" custLinFactNeighborY="9426">
        <dgm:presLayoutVars>
          <dgm:chMax val="0"/>
          <dgm:bulletEnabled val="1"/>
        </dgm:presLayoutVars>
      </dgm:prSet>
      <dgm:spPr/>
    </dgm:pt>
    <dgm:pt modelId="{BBE0AFF1-7A71-438F-94EE-DA9F3D274DAD}" type="pres">
      <dgm:prSet presAssocID="{39767F22-2E90-40C0-A2FC-D62BBC63608E}" presName="spacer" presStyleCnt="0"/>
      <dgm:spPr/>
    </dgm:pt>
    <dgm:pt modelId="{68EC7EB4-81A9-43E6-BFE4-66E049CFAEA2}" type="pres">
      <dgm:prSet presAssocID="{E3A17986-0F3C-42D9-9277-552A2D37622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324D2C4-B2B1-4C0E-8C0D-A6097843EFC6}" type="pres">
      <dgm:prSet presAssocID="{1116D556-0E54-458C-9B80-E2E0A8246D15}" presName="spacer" presStyleCnt="0"/>
      <dgm:spPr/>
    </dgm:pt>
    <dgm:pt modelId="{154C6573-0FAE-4A99-A518-FCC1620B4CB1}" type="pres">
      <dgm:prSet presAssocID="{3BC940D5-9291-4F8E-A27D-7805823B6C5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696C413-5374-44ED-987B-FF1009471855}" type="presOf" srcId="{9B4CE008-B736-42FA-B448-4B84E2B76125}" destId="{ECB2F0E2-9926-4233-9AB2-37A00ABDEACE}" srcOrd="0" destOrd="0" presId="urn:microsoft.com/office/officeart/2005/8/layout/vList2"/>
    <dgm:cxn modelId="{A9A81E21-5C90-4EF2-B947-A82F4F368360}" srcId="{9B4CE008-B736-42FA-B448-4B84E2B76125}" destId="{3BC940D5-9291-4F8E-A27D-7805823B6C57}" srcOrd="2" destOrd="0" parTransId="{650E0FA4-C4E5-411D-BAC1-B19519F40818}" sibTransId="{0633AB64-9531-4BF5-AB30-B349EBD5FD66}"/>
    <dgm:cxn modelId="{73812D43-D28B-4304-8BB2-220A3E87458E}" srcId="{9B4CE008-B736-42FA-B448-4B84E2B76125}" destId="{E3A17986-0F3C-42D9-9277-552A2D376222}" srcOrd="1" destOrd="0" parTransId="{C6293A14-71CA-4B94-97D6-8132B9850BE6}" sibTransId="{1116D556-0E54-458C-9B80-E2E0A8246D15}"/>
    <dgm:cxn modelId="{72FFD045-A00A-4C6D-B845-AF8377FD5A17}" type="presOf" srcId="{E3A17986-0F3C-42D9-9277-552A2D376222}" destId="{68EC7EB4-81A9-43E6-BFE4-66E049CFAEA2}" srcOrd="0" destOrd="0" presId="urn:microsoft.com/office/officeart/2005/8/layout/vList2"/>
    <dgm:cxn modelId="{8A1B7847-E05D-48F1-B32C-D0C150B5C128}" type="presOf" srcId="{A332BA15-629B-48E8-B3BA-FEEA84ABF3C9}" destId="{599C1540-BE26-487A-8C79-186B1BB65AD8}" srcOrd="0" destOrd="0" presId="urn:microsoft.com/office/officeart/2005/8/layout/vList2"/>
    <dgm:cxn modelId="{455416A5-DA79-49C4-94B6-768A6CEC0F16}" srcId="{9B4CE008-B736-42FA-B448-4B84E2B76125}" destId="{A332BA15-629B-48E8-B3BA-FEEA84ABF3C9}" srcOrd="0" destOrd="0" parTransId="{782F20BB-6101-4F4B-A270-7E73C88749E0}" sibTransId="{39767F22-2E90-40C0-A2FC-D62BBC63608E}"/>
    <dgm:cxn modelId="{C03DD7A7-D8C4-4737-85A9-52D20FC3E28B}" type="presOf" srcId="{3BC940D5-9291-4F8E-A27D-7805823B6C57}" destId="{154C6573-0FAE-4A99-A518-FCC1620B4CB1}" srcOrd="0" destOrd="0" presId="urn:microsoft.com/office/officeart/2005/8/layout/vList2"/>
    <dgm:cxn modelId="{236AC333-A1DB-4FB8-9358-78CA6D79364D}" type="presParOf" srcId="{ECB2F0E2-9926-4233-9AB2-37A00ABDEACE}" destId="{599C1540-BE26-487A-8C79-186B1BB65AD8}" srcOrd="0" destOrd="0" presId="urn:microsoft.com/office/officeart/2005/8/layout/vList2"/>
    <dgm:cxn modelId="{7B21ADD4-7BAD-483A-8452-99CB67FEAD53}" type="presParOf" srcId="{ECB2F0E2-9926-4233-9AB2-37A00ABDEACE}" destId="{BBE0AFF1-7A71-438F-94EE-DA9F3D274DAD}" srcOrd="1" destOrd="0" presId="urn:microsoft.com/office/officeart/2005/8/layout/vList2"/>
    <dgm:cxn modelId="{B50441B2-5C42-4FF0-AFFA-C21D348782F2}" type="presParOf" srcId="{ECB2F0E2-9926-4233-9AB2-37A00ABDEACE}" destId="{68EC7EB4-81A9-43E6-BFE4-66E049CFAEA2}" srcOrd="2" destOrd="0" presId="urn:microsoft.com/office/officeart/2005/8/layout/vList2"/>
    <dgm:cxn modelId="{769BBCB1-7901-472F-8620-D3C588B962BB}" type="presParOf" srcId="{ECB2F0E2-9926-4233-9AB2-37A00ABDEACE}" destId="{F324D2C4-B2B1-4C0E-8C0D-A6097843EFC6}" srcOrd="3" destOrd="0" presId="urn:microsoft.com/office/officeart/2005/8/layout/vList2"/>
    <dgm:cxn modelId="{601773C6-0941-4D90-A43A-D9F880AB9D40}" type="presParOf" srcId="{ECB2F0E2-9926-4233-9AB2-37A00ABDEACE}" destId="{154C6573-0FAE-4A99-A518-FCC1620B4CB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D0ED8F-3685-4F1F-8530-AA94288E1C1D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3ACFF1B-F341-481F-933D-D03B9514AFB5}">
      <dgm:prSet custT="1"/>
      <dgm:spPr/>
      <dgm:t>
        <a:bodyPr/>
        <a:lstStyle/>
        <a:p>
          <a:r>
            <a:rPr lang="en-US" sz="2500" dirty="0"/>
            <a:t>Age &amp; stroke risk % have a strong positive correlation</a:t>
          </a:r>
        </a:p>
      </dgm:t>
    </dgm:pt>
    <dgm:pt modelId="{66261CDE-CCCD-4D5C-9AD4-964ABB92C64C}" type="parTrans" cxnId="{BE5E5AE5-7185-43F0-AF80-5FC4900A24BA}">
      <dgm:prSet/>
      <dgm:spPr/>
      <dgm:t>
        <a:bodyPr/>
        <a:lstStyle/>
        <a:p>
          <a:endParaRPr lang="en-US"/>
        </a:p>
      </dgm:t>
    </dgm:pt>
    <dgm:pt modelId="{DC53E664-F09D-4FE5-998D-2369CB1411F3}" type="sibTrans" cxnId="{BE5E5AE5-7185-43F0-AF80-5FC4900A24BA}">
      <dgm:prSet/>
      <dgm:spPr/>
      <dgm:t>
        <a:bodyPr/>
        <a:lstStyle/>
        <a:p>
          <a:endParaRPr lang="en-US"/>
        </a:p>
      </dgm:t>
    </dgm:pt>
    <dgm:pt modelId="{D9E7E241-871F-4F22-A687-A05AC10121E7}">
      <dgm:prSet custT="1"/>
      <dgm:spPr/>
      <dgm:t>
        <a:bodyPr/>
        <a:lstStyle/>
        <a:p>
          <a:r>
            <a:rPr lang="en-US" sz="2500" dirty="0"/>
            <a:t>The more symptoms a person has at one time drastically increases their risk of having a stroke</a:t>
          </a:r>
        </a:p>
      </dgm:t>
    </dgm:pt>
    <dgm:pt modelId="{95B0A979-98D4-4EC3-8E2D-EBC182F9FD82}" type="parTrans" cxnId="{F929F102-55F6-4277-BA1C-AA29825A1F7D}">
      <dgm:prSet/>
      <dgm:spPr/>
      <dgm:t>
        <a:bodyPr/>
        <a:lstStyle/>
        <a:p>
          <a:endParaRPr lang="en-US"/>
        </a:p>
      </dgm:t>
    </dgm:pt>
    <dgm:pt modelId="{44C2F77F-AE85-4A16-B3BB-02252D39E3E4}" type="sibTrans" cxnId="{F929F102-55F6-4277-BA1C-AA29825A1F7D}">
      <dgm:prSet/>
      <dgm:spPr/>
      <dgm:t>
        <a:bodyPr/>
        <a:lstStyle/>
        <a:p>
          <a:endParaRPr lang="en-US"/>
        </a:p>
      </dgm:t>
    </dgm:pt>
    <dgm:pt modelId="{AA87FC41-7909-49B0-8947-63C756516A9F}">
      <dgm:prSet custT="1"/>
      <dgm:spPr/>
      <dgm:t>
        <a:bodyPr/>
        <a:lstStyle/>
        <a:p>
          <a:r>
            <a:rPr lang="en-US" sz="2500" dirty="0"/>
            <a:t>Just looking at cardiovascular &amp; neurological symptoms does not provide accurate insight into stroke risk </a:t>
          </a:r>
        </a:p>
      </dgm:t>
    </dgm:pt>
    <dgm:pt modelId="{161379F1-8EF1-4EFE-B057-B16659BA813D}" type="parTrans" cxnId="{0323929D-6845-4087-9BCD-F2C19BB5A0F0}">
      <dgm:prSet/>
      <dgm:spPr/>
      <dgm:t>
        <a:bodyPr/>
        <a:lstStyle/>
        <a:p>
          <a:endParaRPr lang="en-US"/>
        </a:p>
      </dgm:t>
    </dgm:pt>
    <dgm:pt modelId="{1E659426-F493-44D2-B16B-EE7309AC8B0C}" type="sibTrans" cxnId="{0323929D-6845-4087-9BCD-F2C19BB5A0F0}">
      <dgm:prSet/>
      <dgm:spPr/>
      <dgm:t>
        <a:bodyPr/>
        <a:lstStyle/>
        <a:p>
          <a:endParaRPr lang="en-US"/>
        </a:p>
      </dgm:t>
    </dgm:pt>
    <dgm:pt modelId="{D1B66CB4-11DC-42AA-9406-0ADAB6A81223}" type="pres">
      <dgm:prSet presAssocID="{89D0ED8F-3685-4F1F-8530-AA94288E1C1D}" presName="vert0" presStyleCnt="0">
        <dgm:presLayoutVars>
          <dgm:dir/>
          <dgm:animOne val="branch"/>
          <dgm:animLvl val="lvl"/>
        </dgm:presLayoutVars>
      </dgm:prSet>
      <dgm:spPr/>
    </dgm:pt>
    <dgm:pt modelId="{A26A5159-2345-4CE1-A426-6DB7E50E99A5}" type="pres">
      <dgm:prSet presAssocID="{D3ACFF1B-F341-481F-933D-D03B9514AFB5}" presName="thickLine" presStyleLbl="alignNode1" presStyleIdx="0" presStyleCnt="3"/>
      <dgm:spPr/>
    </dgm:pt>
    <dgm:pt modelId="{5A78EF83-96AB-4FC7-BE60-4CC81C13A4A7}" type="pres">
      <dgm:prSet presAssocID="{D3ACFF1B-F341-481F-933D-D03B9514AFB5}" presName="horz1" presStyleCnt="0"/>
      <dgm:spPr/>
    </dgm:pt>
    <dgm:pt modelId="{0FCE936E-77D1-4658-ABE7-547A44BCC776}" type="pres">
      <dgm:prSet presAssocID="{D3ACFF1B-F341-481F-933D-D03B9514AFB5}" presName="tx1" presStyleLbl="revTx" presStyleIdx="0" presStyleCnt="3"/>
      <dgm:spPr/>
    </dgm:pt>
    <dgm:pt modelId="{BB6759BC-3714-4029-947C-C480D39F284A}" type="pres">
      <dgm:prSet presAssocID="{D3ACFF1B-F341-481F-933D-D03B9514AFB5}" presName="vert1" presStyleCnt="0"/>
      <dgm:spPr/>
    </dgm:pt>
    <dgm:pt modelId="{DA671AA5-D358-4313-AFDA-FCAADA57330C}" type="pres">
      <dgm:prSet presAssocID="{D9E7E241-871F-4F22-A687-A05AC10121E7}" presName="thickLine" presStyleLbl="alignNode1" presStyleIdx="1" presStyleCnt="3"/>
      <dgm:spPr/>
    </dgm:pt>
    <dgm:pt modelId="{1E8D9CA7-2A88-4BBF-83C4-99426E890204}" type="pres">
      <dgm:prSet presAssocID="{D9E7E241-871F-4F22-A687-A05AC10121E7}" presName="horz1" presStyleCnt="0"/>
      <dgm:spPr/>
    </dgm:pt>
    <dgm:pt modelId="{EDE64DA2-65D8-447D-82C0-F509764277CE}" type="pres">
      <dgm:prSet presAssocID="{D9E7E241-871F-4F22-A687-A05AC10121E7}" presName="tx1" presStyleLbl="revTx" presStyleIdx="1" presStyleCnt="3"/>
      <dgm:spPr/>
    </dgm:pt>
    <dgm:pt modelId="{A959CBC6-56A5-45FE-8AEC-EC2CE265B353}" type="pres">
      <dgm:prSet presAssocID="{D9E7E241-871F-4F22-A687-A05AC10121E7}" presName="vert1" presStyleCnt="0"/>
      <dgm:spPr/>
    </dgm:pt>
    <dgm:pt modelId="{A65CF450-DD6B-4100-A93C-D4DFD26B965C}" type="pres">
      <dgm:prSet presAssocID="{AA87FC41-7909-49B0-8947-63C756516A9F}" presName="thickLine" presStyleLbl="alignNode1" presStyleIdx="2" presStyleCnt="3"/>
      <dgm:spPr/>
    </dgm:pt>
    <dgm:pt modelId="{7DFFAFC6-D729-4E69-8AA4-2B5CAFDF4352}" type="pres">
      <dgm:prSet presAssocID="{AA87FC41-7909-49B0-8947-63C756516A9F}" presName="horz1" presStyleCnt="0"/>
      <dgm:spPr/>
    </dgm:pt>
    <dgm:pt modelId="{A62BFEEB-6BE4-48A8-B5A8-456310DAA1F5}" type="pres">
      <dgm:prSet presAssocID="{AA87FC41-7909-49B0-8947-63C756516A9F}" presName="tx1" presStyleLbl="revTx" presStyleIdx="2" presStyleCnt="3"/>
      <dgm:spPr/>
    </dgm:pt>
    <dgm:pt modelId="{16CE7D28-90D8-4C92-89A8-B9920E70E3B4}" type="pres">
      <dgm:prSet presAssocID="{AA87FC41-7909-49B0-8947-63C756516A9F}" presName="vert1" presStyleCnt="0"/>
      <dgm:spPr/>
    </dgm:pt>
  </dgm:ptLst>
  <dgm:cxnLst>
    <dgm:cxn modelId="{F929F102-55F6-4277-BA1C-AA29825A1F7D}" srcId="{89D0ED8F-3685-4F1F-8530-AA94288E1C1D}" destId="{D9E7E241-871F-4F22-A687-A05AC10121E7}" srcOrd="1" destOrd="0" parTransId="{95B0A979-98D4-4EC3-8E2D-EBC182F9FD82}" sibTransId="{44C2F77F-AE85-4A16-B3BB-02252D39E3E4}"/>
    <dgm:cxn modelId="{24F15043-2D66-4FD7-8FA0-B95C3C99BE40}" type="presOf" srcId="{89D0ED8F-3685-4F1F-8530-AA94288E1C1D}" destId="{D1B66CB4-11DC-42AA-9406-0ADAB6A81223}" srcOrd="0" destOrd="0" presId="urn:microsoft.com/office/officeart/2008/layout/LinedList"/>
    <dgm:cxn modelId="{11217359-CF31-4934-92DB-5F128204AB5A}" type="presOf" srcId="{D9E7E241-871F-4F22-A687-A05AC10121E7}" destId="{EDE64DA2-65D8-447D-82C0-F509764277CE}" srcOrd="0" destOrd="0" presId="urn:microsoft.com/office/officeart/2008/layout/LinedList"/>
    <dgm:cxn modelId="{0323929D-6845-4087-9BCD-F2C19BB5A0F0}" srcId="{89D0ED8F-3685-4F1F-8530-AA94288E1C1D}" destId="{AA87FC41-7909-49B0-8947-63C756516A9F}" srcOrd="2" destOrd="0" parTransId="{161379F1-8EF1-4EFE-B057-B16659BA813D}" sibTransId="{1E659426-F493-44D2-B16B-EE7309AC8B0C}"/>
    <dgm:cxn modelId="{31150CB4-B24A-41C7-B705-145A3895CC69}" type="presOf" srcId="{AA87FC41-7909-49B0-8947-63C756516A9F}" destId="{A62BFEEB-6BE4-48A8-B5A8-456310DAA1F5}" srcOrd="0" destOrd="0" presId="urn:microsoft.com/office/officeart/2008/layout/LinedList"/>
    <dgm:cxn modelId="{11C5B0B4-9E07-43E1-B6F3-53BAAF737D3F}" type="presOf" srcId="{D3ACFF1B-F341-481F-933D-D03B9514AFB5}" destId="{0FCE936E-77D1-4658-ABE7-547A44BCC776}" srcOrd="0" destOrd="0" presId="urn:microsoft.com/office/officeart/2008/layout/LinedList"/>
    <dgm:cxn modelId="{BE5E5AE5-7185-43F0-AF80-5FC4900A24BA}" srcId="{89D0ED8F-3685-4F1F-8530-AA94288E1C1D}" destId="{D3ACFF1B-F341-481F-933D-D03B9514AFB5}" srcOrd="0" destOrd="0" parTransId="{66261CDE-CCCD-4D5C-9AD4-964ABB92C64C}" sibTransId="{DC53E664-F09D-4FE5-998D-2369CB1411F3}"/>
    <dgm:cxn modelId="{C1B21776-9957-4AFE-866A-94FE695FB267}" type="presParOf" srcId="{D1B66CB4-11DC-42AA-9406-0ADAB6A81223}" destId="{A26A5159-2345-4CE1-A426-6DB7E50E99A5}" srcOrd="0" destOrd="0" presId="urn:microsoft.com/office/officeart/2008/layout/LinedList"/>
    <dgm:cxn modelId="{6B9EC927-D61A-4D6E-83A3-9F15F41402BA}" type="presParOf" srcId="{D1B66CB4-11DC-42AA-9406-0ADAB6A81223}" destId="{5A78EF83-96AB-4FC7-BE60-4CC81C13A4A7}" srcOrd="1" destOrd="0" presId="urn:microsoft.com/office/officeart/2008/layout/LinedList"/>
    <dgm:cxn modelId="{A6FBC7CD-8620-4CB3-A8E9-1D373BEEE364}" type="presParOf" srcId="{5A78EF83-96AB-4FC7-BE60-4CC81C13A4A7}" destId="{0FCE936E-77D1-4658-ABE7-547A44BCC776}" srcOrd="0" destOrd="0" presId="urn:microsoft.com/office/officeart/2008/layout/LinedList"/>
    <dgm:cxn modelId="{0E696080-443D-4075-B262-1EF253FCA83D}" type="presParOf" srcId="{5A78EF83-96AB-4FC7-BE60-4CC81C13A4A7}" destId="{BB6759BC-3714-4029-947C-C480D39F284A}" srcOrd="1" destOrd="0" presId="urn:microsoft.com/office/officeart/2008/layout/LinedList"/>
    <dgm:cxn modelId="{72C469DB-B37E-410B-B869-7515D09BB0E6}" type="presParOf" srcId="{D1B66CB4-11DC-42AA-9406-0ADAB6A81223}" destId="{DA671AA5-D358-4313-AFDA-FCAADA57330C}" srcOrd="2" destOrd="0" presId="urn:microsoft.com/office/officeart/2008/layout/LinedList"/>
    <dgm:cxn modelId="{4742A40F-3BCD-4749-9F80-5F67FBEF3E1C}" type="presParOf" srcId="{D1B66CB4-11DC-42AA-9406-0ADAB6A81223}" destId="{1E8D9CA7-2A88-4BBF-83C4-99426E890204}" srcOrd="3" destOrd="0" presId="urn:microsoft.com/office/officeart/2008/layout/LinedList"/>
    <dgm:cxn modelId="{CF635FC0-88BE-4DA3-A78B-7DC794B01995}" type="presParOf" srcId="{1E8D9CA7-2A88-4BBF-83C4-99426E890204}" destId="{EDE64DA2-65D8-447D-82C0-F509764277CE}" srcOrd="0" destOrd="0" presId="urn:microsoft.com/office/officeart/2008/layout/LinedList"/>
    <dgm:cxn modelId="{E98D18F8-FFAA-4C8E-9E95-7AB349539322}" type="presParOf" srcId="{1E8D9CA7-2A88-4BBF-83C4-99426E890204}" destId="{A959CBC6-56A5-45FE-8AEC-EC2CE265B353}" srcOrd="1" destOrd="0" presId="urn:microsoft.com/office/officeart/2008/layout/LinedList"/>
    <dgm:cxn modelId="{8DCBA805-942B-420D-B516-73D26D127937}" type="presParOf" srcId="{D1B66CB4-11DC-42AA-9406-0ADAB6A81223}" destId="{A65CF450-DD6B-4100-A93C-D4DFD26B965C}" srcOrd="4" destOrd="0" presId="urn:microsoft.com/office/officeart/2008/layout/LinedList"/>
    <dgm:cxn modelId="{FE986E82-60D7-441E-B3A0-174D7E6D5E01}" type="presParOf" srcId="{D1B66CB4-11DC-42AA-9406-0ADAB6A81223}" destId="{7DFFAFC6-D729-4E69-8AA4-2B5CAFDF4352}" srcOrd="5" destOrd="0" presId="urn:microsoft.com/office/officeart/2008/layout/LinedList"/>
    <dgm:cxn modelId="{E05E33A9-D930-4B0F-A693-F03800CFAE90}" type="presParOf" srcId="{7DFFAFC6-D729-4E69-8AA4-2B5CAFDF4352}" destId="{A62BFEEB-6BE4-48A8-B5A8-456310DAA1F5}" srcOrd="0" destOrd="0" presId="urn:microsoft.com/office/officeart/2008/layout/LinedList"/>
    <dgm:cxn modelId="{C6D5B22E-3C3C-4EC7-8D7D-AB19B8A1666D}" type="presParOf" srcId="{7DFFAFC6-D729-4E69-8AA4-2B5CAFDF4352}" destId="{16CE7D28-90D8-4C92-89A8-B9920E70E3B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9C1540-BE26-487A-8C79-186B1BB65AD8}">
      <dsp:nvSpPr>
        <dsp:cNvPr id="0" name=""/>
        <dsp:cNvSpPr/>
      </dsp:nvSpPr>
      <dsp:spPr>
        <a:xfrm>
          <a:off x="0" y="180914"/>
          <a:ext cx="10515600" cy="1216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Health-related data does not tend to be linear</a:t>
          </a:r>
        </a:p>
      </dsp:txBody>
      <dsp:txXfrm>
        <a:off x="59399" y="240313"/>
        <a:ext cx="10396802" cy="1098002"/>
      </dsp:txXfrm>
    </dsp:sp>
    <dsp:sp modelId="{68EC7EB4-81A9-43E6-BFE4-66E049CFAEA2}">
      <dsp:nvSpPr>
        <dsp:cNvPr id="0" name=""/>
        <dsp:cNvSpPr/>
      </dsp:nvSpPr>
      <dsp:spPr>
        <a:xfrm>
          <a:off x="0" y="1567269"/>
          <a:ext cx="10515600" cy="1216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First, look at data of people who have already had strokes and what their combination of symptoms were</a:t>
          </a:r>
        </a:p>
      </dsp:txBody>
      <dsp:txXfrm>
        <a:off x="59399" y="1626668"/>
        <a:ext cx="10396802" cy="1098002"/>
      </dsp:txXfrm>
    </dsp:sp>
    <dsp:sp modelId="{154C6573-0FAE-4A99-A518-FCC1620B4CB1}">
      <dsp:nvSpPr>
        <dsp:cNvPr id="0" name=""/>
        <dsp:cNvSpPr/>
      </dsp:nvSpPr>
      <dsp:spPr>
        <a:xfrm>
          <a:off x="0" y="2971269"/>
          <a:ext cx="10515600" cy="1216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Also look at whether or not a person has had a stroke in the past</a:t>
          </a:r>
        </a:p>
      </dsp:txBody>
      <dsp:txXfrm>
        <a:off x="59399" y="3030668"/>
        <a:ext cx="10396802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6A5159-2345-4CE1-A426-6DB7E50E99A5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E936E-77D1-4658-ABE7-547A44BCC776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Age &amp; stroke risk % have a strong positive correlation</a:t>
          </a:r>
        </a:p>
      </dsp:txBody>
      <dsp:txXfrm>
        <a:off x="0" y="2124"/>
        <a:ext cx="10515600" cy="1449029"/>
      </dsp:txXfrm>
    </dsp:sp>
    <dsp:sp modelId="{DA671AA5-D358-4313-AFDA-FCAADA57330C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64DA2-65D8-447D-82C0-F509764277CE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more symptoms a person has at one time drastically increases their risk of having a stroke</a:t>
          </a:r>
        </a:p>
      </dsp:txBody>
      <dsp:txXfrm>
        <a:off x="0" y="1451154"/>
        <a:ext cx="10515600" cy="1449029"/>
      </dsp:txXfrm>
    </dsp:sp>
    <dsp:sp modelId="{A65CF450-DD6B-4100-A93C-D4DFD26B965C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BFEEB-6BE4-48A8-B5A8-456310DAA1F5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Just looking at cardiovascular &amp; neurological symptoms does not provide accurate insight into stroke risk </a:t>
          </a:r>
        </a:p>
      </dsp:txBody>
      <dsp:txXfrm>
        <a:off x="0" y="2900183"/>
        <a:ext cx="10515600" cy="1449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C8B5C-3AC5-402C-9EC2-38E9B0DF6880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9BF5B-2C2D-43AD-9A48-859609F8C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8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5827-D09B-46A4-B4E1-41D45E83F427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306E680-6A26-9C48-87BF-4368862B9A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5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9E30-CD82-4445-955B-D23FD4011426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955C273-3410-C447-B8B7-5FDFF0F32A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C75-2456-E24C-A74E-E3F6818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908F-63CC-1B4E-947D-0F735476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3A58-FFD8-4940-A7F0-8B2B57C9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FFE2-DB72-4775-8E74-4712742A8330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D3E-6D5E-D349-938B-E0B3301A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6C36-FD1B-BE4B-974D-B33D0A7B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6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D9A-4C4D-C04D-B628-4D6821CF9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D619-9256-5342-BA68-AA592831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52CD-DA0F-E044-884E-A857BA1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3B9F-AEF3-4952-BBB5-1780DA831A13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1647-D227-6B41-9AD6-182E7AE9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12F90-7608-D14B-BE6C-B6E7C3BF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1F2DD4F-54D8-DF4E-89F0-75242AE73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5F1-41C9-F741-ABCA-148F72F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B0D0-CB2A-5B49-AFAE-C401DC85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190-6116-CE4E-880A-2A5FD5E9F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325-B878-6048-96EA-AD37D914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06B55-71E9-4045-BEFC-448B5802B84D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4E63-81BD-D34E-9FB6-590D87A2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F3FA-6596-F141-A53F-FDEC5D0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7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86C4-8A82-2E47-BA0A-3B4FD27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AD30-26CB-894D-B249-16631B50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37DF-FCA3-9345-8F1B-3B2DEECC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A7F32-108C-0147-BF1C-151D18579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A79B9-C154-E741-8BC5-8B95F0D25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A23CC-9985-5B43-B4F5-7A65FBBB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1607-E054-40BD-B080-1A18D1601414}" type="datetime1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89551-72F1-6A40-B02D-98C9990F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CEE8-777A-5940-9519-1D826BC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1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0DEB-C558-DB4D-9DBB-60DA77C0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75B9-E07E-614C-9F6C-7943A32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A40A2-32F1-45FF-8F8B-CE40F9F90D77}" type="datetime1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482A-9624-104B-AFF8-5DE4012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9DE2-8332-1E4D-806B-6DDB7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AD24-3C30-D545-822F-3EF5F7FE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2296E-CE15-40CC-B578-FC6815BBAE63}" type="datetime1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1DBBA-BE87-D441-B84D-D8F2DAF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A5FB-A616-8D45-9939-E7B33461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ADA5-6E94-DB46-948A-CE55B22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03E3-1AEE-0E46-A78B-8B092563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A59D-5684-1941-8033-29499AF5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89D9-B751-654C-8849-B701A52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CF1A-C492-4FA6-A824-74710EEEE3EE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888-A517-7A40-9678-F86659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6589-428D-8542-B91B-AA693B1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0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8F6-F979-A948-9E97-51A38426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C9482-4942-9A42-9B6B-9A6D0C3F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D93E-E334-794F-AAA4-ED2738BD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737-FC71-3D41-A122-65FFC918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37880-4B9B-4EB2-B8FB-50ECCD2F2FC7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7691-9973-4B46-AE83-6A5F333C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9189-E24D-B94A-A884-A8AF80D2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9EF-4096-1A49-9AD4-0655F12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AF70-1E65-534B-9153-913A0A9E4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CE82-C65F-6B43-ABA4-3EB66445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49C1-B3C0-4F3D-9A99-71205AB5BAB0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9C77-D8D0-FB43-910C-1F49030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FDC7-F78C-EE40-982D-9189AE7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02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DA1A7-5913-1444-B7D0-0B55BA2D7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05413-85D9-A548-83D7-268A900CC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3B9-EFDB-514F-8EDA-0D81C8C4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4520-A128-4243-AC48-90E434E9BD8E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90F-E680-5346-AB4F-97427157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FA6-882C-6645-8A51-A07C0F71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4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A89C3-E6FA-684D-8BAE-1760B34F554E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C330-0F02-8249-82EC-9F3A278C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E27E-2040-824D-B637-1C07F3E0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9B-BAF4-A343-8BF1-1572AB38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F610FEE0-76EF-4543-AF1E-A7B82D90E22B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F82B-A72E-B848-BB19-0207CDE4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82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20FE-B066-7C49-9BDF-AF56CC193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A6F54A4B-B617-B54F-B600-5EFC28C265A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056147" y="185741"/>
            <a:ext cx="96139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7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0DA4-D291-4B42-B1AF-848E941EB3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Stroke Risk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7951D-6AED-F64B-AB8D-89218E91D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EDA &amp; Machine Learning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16B44-3123-6314-174B-752D4487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9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367E-DF85-5B48-ABDA-7F8FDCC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241B7-01DA-6A42-8344-CD7434099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70000 rows, 18 columns (+1 column added later)</a:t>
            </a:r>
          </a:p>
          <a:p>
            <a:pPr lvl="1"/>
            <a:r>
              <a:rPr lang="en-US" dirty="0"/>
              <a:t>15 columns were binary values of symptoms 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Arial" panose="020B0604020202020204" pitchFamily="34" charset="0"/>
              </a:rPr>
              <a:t>(1 = present, 0 = not present)</a:t>
            </a:r>
            <a:endParaRPr lang="en-US" dirty="0"/>
          </a:p>
          <a:p>
            <a:r>
              <a:rPr lang="en-US" dirty="0"/>
              <a:t>No missing data</a:t>
            </a:r>
          </a:p>
          <a:p>
            <a:r>
              <a:rPr lang="en-US" dirty="0"/>
              <a:t>Columns: [age, </a:t>
            </a:r>
            <a:r>
              <a:rPr lang="en-US" dirty="0">
                <a:effectLst/>
              </a:rPr>
              <a:t>chest pain, shortness of breath, irregular heartbeat, fatigue &amp; weakness, dizziness, swelling, pain in neck/jaw/shoulder/back, excessive sweating, persistent cough, nausea/vomiting, high blood pressure, chest discomfort, cold hand/feet, snoring/sleep apnea, anxiety, stroke risk (%), at risk (binary), # of symptoms]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0A7C2-63CE-35F2-33F7-4E45B6AE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2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74A80-47A3-F6E7-5A9B-B0C47669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370F6-F62E-F9E5-2C31-87A86E179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EDA – histograms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F5478-EA82-BBDC-1AF3-DCE0530BC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92510"/>
            <a:ext cx="10515600" cy="3417567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F9F85-EF22-3FB9-D503-AB1026C3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827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B8F8C4-05A7-DC4E-8BB7-4202EC4ACBF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88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1C746-ECEE-4751-C007-CDE646F2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CCAE-0A3D-E863-080D-BA7936EA5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EDA – histograms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4F15F9-0706-BF0B-50C9-A9CD341F6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26787"/>
            <a:ext cx="10515600" cy="3549014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27085-7539-DFC7-9A79-F5D076694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827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B8F8C4-05A7-DC4E-8BB7-4202EC4ACBF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70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BDA61-EB7C-92A6-4D09-E5DB29DAA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808A-F7FD-8D34-E6D9-33901BF1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histograms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717634-02A9-7C8B-11F1-945EDE372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94" y="2172023"/>
            <a:ext cx="6582905" cy="34516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0CAF81-213A-B4D2-3A2C-42685D8D6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300" y="2232970"/>
            <a:ext cx="4648200" cy="346372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C0225-F089-F834-63EC-7911D663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1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18C0D-AD2B-EAA0-2C77-3A6F7026B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29BA-5DC5-F555-085A-1C58DEFF5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EDA – heat map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8DF8F9-515D-C829-BD6D-B54295D9E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918" y="1825625"/>
            <a:ext cx="5180164" cy="4351338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42522-7BEA-C670-6D84-8DA68263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827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B8F8C4-05A7-DC4E-8BB7-4202EC4ACBF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04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748F0-992B-25B3-FB39-758CC2AD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C2AE-7960-F599-8348-4313F2A52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box plots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7B4D6-0566-2CBA-970D-F0DB2C35B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31" y="2095078"/>
            <a:ext cx="5391169" cy="3614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2B0C1E-C01E-7DE2-B918-984126730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39565"/>
            <a:ext cx="5391167" cy="357010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DBE36C-AB8E-7456-FFED-B8631246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D914-8D97-C9AB-64BF-D7D83120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E8FD-3541-232C-D8DE-0E05695B9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EDA - boxplots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AD788-544D-08CA-8118-F58909227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368" y="1825625"/>
            <a:ext cx="6643263" cy="4351338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8E6DE-5A3D-A566-6674-43058F73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827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B8F8C4-05A7-DC4E-8BB7-4202EC4ACBF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33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3D020-5C15-28BF-F0C4-55C41BC5F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609D-6238-81D3-6CCA-7AA25828C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EDA – pair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40DA3-08D9-C71B-1170-BA60B3762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584" y="1825625"/>
            <a:ext cx="5226832" cy="4351338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D506-6FA3-E555-63EB-FD047E29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827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B8F8C4-05A7-DC4E-8BB7-4202EC4ACBF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327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DB9CD-3847-FB07-FCC5-E592F494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60D8-734B-91E1-5582-2EDEA4DD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85844-1555-E595-9875-0DB4C37D3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1: uses all data, 80/20 train/test split</a:t>
            </a:r>
          </a:p>
          <a:p>
            <a:r>
              <a:rPr lang="en-US" dirty="0"/>
              <a:t>Model 2: uses all data, 70/30 train/test split</a:t>
            </a:r>
          </a:p>
          <a:p>
            <a:r>
              <a:rPr lang="en-US" dirty="0"/>
              <a:t>Model 3: uses age &amp; cardiovascular/neurological symptoms only, 80/20 split</a:t>
            </a:r>
          </a:p>
          <a:p>
            <a:r>
              <a:rPr lang="en-US" dirty="0">
                <a:latin typeface="+mj-lt"/>
              </a:rPr>
              <a:t>Model 4: uses age &amp; cardiovascular/neurological symptoms only, 70/30 split</a:t>
            </a:r>
          </a:p>
          <a:p>
            <a:pPr lvl="1"/>
            <a:r>
              <a:rPr lang="en-US" sz="1800" dirty="0">
                <a:effectLst/>
                <a:latin typeface="+mj-lt"/>
                <a:ea typeface="Cambria" panose="02040503050406030204" pitchFamily="18" charset="0"/>
                <a:cs typeface="Arial" panose="020B0604020202020204" pitchFamily="34" charset="0"/>
              </a:rPr>
              <a:t>Selected symptoms: ['Chest Pain', 'Irregular Heartbeat', 'Fatigue &amp; Weakness', 'Dizziness', 'High Blood Pressure', 'Chest Discomfort (Activity)', 'Anxiety/Feeling of Doom']</a:t>
            </a:r>
            <a:endParaRPr lang="en-US" dirty="0">
              <a:latin typeface="+mj-lt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7CC45-2C75-4177-2205-98DDF56A8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55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A2EAF-BD84-D9E2-DE3D-7B94ABF35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D7333-E5E4-CB08-60D9-1AEFF8F8E8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Model 1: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Mean squared error 7.212163808644858e-05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Root mean squared error 0.008492445942509648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R square 0.9999996485993495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Model 2: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Mean squared error 4.8791215880574506e-05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Root mean squared error 0.006985070928814861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indent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R square 0.9999997616331122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306CE-974A-E335-FE31-8FCB1300C8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Model 3: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Mean squared error 48.810700807936094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Root mean squared error 6.9864655447469355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R square 0.7621780027634335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Model 4: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Mean squared error 49.599389343884184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Root mean squared error 7.04268339085921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0" marR="0" indent="0" latinLnBrk="1">
              <a:spcBef>
                <a:spcPts val="375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R square 0.7576848238163447</a:t>
            </a:r>
            <a:endParaRPr lang="en-US" sz="1800" dirty="0">
              <a:effectLst/>
              <a:latin typeface="Aptos" panose="020B0004020202020204" pitchFamily="34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04E4E-C00B-231F-4173-9634F81B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4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1B7B7-2F6B-1E14-26C9-9FE405973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Limitations &amp; Improvements for the Future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716E8-7360-7F8D-5C68-C8CF99D6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827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B8F8C4-05A7-DC4E-8BB7-4202EC4ACBF7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7B52E3B-CB8A-FBF1-72EC-806DFA111D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95656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5491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C922-A64F-B7BF-5053-8C0A51C7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64BCB-64F0-6FD1-CDC0-9AD749F6A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827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B8F8C4-05A7-DC4E-8BB7-4202EC4ACBF7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1F6D4839-34F7-101B-B312-17A53124FB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4225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801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llarmine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2836"/>
      </a:accent1>
      <a:accent2>
        <a:srgbClr val="697970"/>
      </a:accent2>
      <a:accent3>
        <a:srgbClr val="C8C8C8"/>
      </a:accent3>
      <a:accent4>
        <a:srgbClr val="F7BE00"/>
      </a:accent4>
      <a:accent5>
        <a:srgbClr val="00677F"/>
      </a:accent5>
      <a:accent6>
        <a:srgbClr val="4D4D4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 Screen Bellarmine Template" id="{109F2BBD-B805-0C47-8BE1-EE5FD54F39DA}" vid="{7B5311A2-F663-764E-9F9C-04F6C47E4F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</TotalTime>
  <Words>395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Times New Roman</vt:lpstr>
      <vt:lpstr>Office Theme</vt:lpstr>
      <vt:lpstr>Stroke Risk Prediction</vt:lpstr>
      <vt:lpstr>About the Dataset</vt:lpstr>
      <vt:lpstr>EDA – histograms</vt:lpstr>
      <vt:lpstr>EDA – histograms</vt:lpstr>
      <vt:lpstr>EDA – histograms</vt:lpstr>
      <vt:lpstr>EDA – heat map</vt:lpstr>
      <vt:lpstr>EDA – box plots</vt:lpstr>
      <vt:lpstr>EDA - boxplots</vt:lpstr>
      <vt:lpstr>EDA – pair plot</vt:lpstr>
      <vt:lpstr>Regression Models</vt:lpstr>
      <vt:lpstr>Regression Model results</vt:lpstr>
      <vt:lpstr>Limitations &amp; Improvements for the Future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Kelty</dc:creator>
  <cp:lastModifiedBy>ellie landoch</cp:lastModifiedBy>
  <cp:revision>11</cp:revision>
  <dcterms:created xsi:type="dcterms:W3CDTF">2020-08-18T13:57:38Z</dcterms:created>
  <dcterms:modified xsi:type="dcterms:W3CDTF">2025-05-01T06:51:12Z</dcterms:modified>
</cp:coreProperties>
</file>